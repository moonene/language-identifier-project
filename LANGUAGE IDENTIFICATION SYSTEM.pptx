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10"/>
    <p:sldId id="265" r:id="rId11"/>
    <p:sldId id="266" r:id="rId12"/>
    <p:sldId id="269" r:id="rId13"/>
    <p:sldId id="267" r:id="rId14"/>
    <p:sldId id="268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324" y="-2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Title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62399" y="1964267"/>
            <a:ext cx="7197726" cy="2421464"/>
          </a:xfrm>
        </p:spPr>
        <p:txBody>
          <a:bodyPr anchor="b">
            <a:normAutofit/>
          </a:bodyPr>
          <a:lstStyle>
            <a:lvl1pPr algn="r">
              <a:defRPr sz="48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62399" y="4385732"/>
            <a:ext cx="7197726" cy="1405467"/>
          </a:xfrm>
        </p:spPr>
        <p:txBody>
          <a:bodyPr anchor="t">
            <a:normAutofit/>
          </a:bodyPr>
          <a:lstStyle>
            <a:lvl1pPr marL="0" indent="0" algn="r">
              <a:buNone/>
              <a:defRPr sz="1800" cap="all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32558" y="5870575"/>
            <a:ext cx="1600200" cy="377825"/>
          </a:xfrm>
        </p:spPr>
        <p:txBody>
          <a:bodyPr/>
          <a:lstStyle/>
          <a:p>
            <a:fld id="{CEB8BF93-E384-4868-8CB3-4E92947A9A1B}" type="datetimeFigureOut">
              <a:rPr lang="en-KE" smtClean="0"/>
              <a:t>23/04/2026</a:t>
            </a:fld>
            <a:endParaRPr lang="en-K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62399" y="5870575"/>
            <a:ext cx="4893958" cy="377825"/>
          </a:xfrm>
        </p:spPr>
        <p:txBody>
          <a:bodyPr/>
          <a:lstStyle/>
          <a:p>
            <a:endParaRPr lang="en-K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08958" y="5870575"/>
            <a:ext cx="551167" cy="377825"/>
          </a:xfrm>
        </p:spPr>
        <p:txBody>
          <a:bodyPr/>
          <a:lstStyle/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13688532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8BF93-E384-4868-8CB3-4E92947A9A1B}" type="datetimeFigureOut">
              <a:rPr lang="en-KE" smtClean="0"/>
              <a:t>23/04/2026</a:t>
            </a:fld>
            <a:endParaRPr lang="en-K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21775615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308581"/>
            <a:ext cx="10131427" cy="1468800"/>
          </a:xfrm>
        </p:spPr>
        <p:txBody>
          <a:bodyPr anchor="b"/>
          <a:lstStyle>
            <a:lvl1pPr algn="l">
              <a:defRPr sz="4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7381"/>
            <a:ext cx="1013142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 cap="all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8BF93-E384-4868-8CB3-4E92947A9A1B}" type="datetimeFigureOut">
              <a:rPr lang="en-KE" smtClean="0"/>
              <a:t>23/04/2026</a:t>
            </a:fld>
            <a:endParaRPr lang="en-K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17149919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2" y="2142067"/>
            <a:ext cx="4995334" cy="364913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21895" y="2142067"/>
            <a:ext cx="4995332" cy="364913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8BF93-E384-4868-8CB3-4E92947A9A1B}" type="datetimeFigureOut">
              <a:rPr lang="en-KE" smtClean="0"/>
              <a:t>23/04/2026</a:t>
            </a:fld>
            <a:endParaRPr lang="en-K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42244446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3670" y="2218267"/>
            <a:ext cx="470905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1" y="2870201"/>
            <a:ext cx="4996923" cy="292099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96003" y="2226734"/>
            <a:ext cx="4722813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23483" y="2870201"/>
            <a:ext cx="4995334" cy="292099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8BF93-E384-4868-8CB3-4E92947A9A1B}" type="datetimeFigureOut">
              <a:rPr lang="en-KE" smtClean="0"/>
              <a:t>23/04/2026</a:t>
            </a:fld>
            <a:endParaRPr lang="en-K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24050385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8BF93-E384-4868-8CB3-4E92947A9A1B}" type="datetimeFigureOut">
              <a:rPr lang="en-KE" smtClean="0"/>
              <a:t>23/04/2026</a:t>
            </a:fld>
            <a:endParaRPr lang="en-K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41901500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8BF93-E384-4868-8CB3-4E92947A9A1B}" type="datetimeFigureOut">
              <a:rPr lang="en-KE" smtClean="0"/>
              <a:t>23/04/2026</a:t>
            </a:fld>
            <a:endParaRPr lang="en-K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32157252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074333"/>
            <a:ext cx="3680885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48201" y="609601"/>
            <a:ext cx="6169026" cy="51816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445933"/>
            <a:ext cx="3680885" cy="1828800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8BF93-E384-4868-8CB3-4E92947A9A1B}" type="datetimeFigureOut">
              <a:rPr lang="en-KE" smtClean="0"/>
              <a:t>23/04/2026</a:t>
            </a:fld>
            <a:endParaRPr lang="en-K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25997287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600200"/>
            <a:ext cx="6164653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36253" y="914400"/>
            <a:ext cx="3280974" cy="4572000"/>
          </a:xfrm>
          <a:prstGeom prst="roundRect">
            <a:avLst>
              <a:gd name="adj" fmla="val 42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2971800"/>
            <a:ext cx="6164653" cy="1828800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8BF93-E384-4868-8CB3-4E92947A9A1B}" type="datetimeFigureOut">
              <a:rPr lang="en-KE" smtClean="0"/>
              <a:t>23/04/2026</a:t>
            </a:fld>
            <a:endParaRPr lang="en-K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26815454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732865"/>
            <a:ext cx="1013142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1600" y="932112"/>
            <a:ext cx="8759827" cy="3164976"/>
          </a:xfrm>
          <a:prstGeom prst="roundRect">
            <a:avLst>
              <a:gd name="adj" fmla="val 43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299603"/>
            <a:ext cx="10131427" cy="49371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8BF93-E384-4868-8CB3-4E92947A9A1B}" type="datetimeFigureOut">
              <a:rPr lang="en-KE" smtClean="0"/>
              <a:t>23/04/2026</a:t>
            </a:fld>
            <a:endParaRPr lang="en-K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32457483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3124199"/>
          </a:xfrm>
        </p:spPr>
        <p:txBody>
          <a:bodyPr anchor="ctr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8BF93-E384-4868-8CB3-4E92947A9A1B}" type="datetimeFigureOut">
              <a:rPr lang="en-KE" smtClean="0"/>
              <a:t>23/04/2026</a:t>
            </a:fld>
            <a:endParaRPr lang="en-K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31390562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97875" y="3352800"/>
            <a:ext cx="9339184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7465" y="4343400"/>
            <a:ext cx="10152367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8BF93-E384-4868-8CB3-4E92947A9A1B}" type="datetimeFigureOut">
              <a:rPr lang="en-KE" smtClean="0"/>
              <a:t>23/04/2026</a:t>
            </a:fld>
            <a:endParaRPr lang="en-K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17464582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2" y="3308581"/>
            <a:ext cx="10131425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4777381"/>
            <a:ext cx="10131426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8BF93-E384-4868-8CB3-4E92947A9A1B}" type="datetimeFigureOut">
              <a:rPr lang="en-KE" smtClean="0"/>
              <a:t>23/04/2026</a:t>
            </a:fld>
            <a:endParaRPr lang="en-K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39698720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0" y="3886200"/>
            <a:ext cx="10135436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5200"/>
            <a:ext cx="10135436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8BF93-E384-4868-8CB3-4E92947A9A1B}" type="datetimeFigureOut">
              <a:rPr lang="en-KE" smtClean="0"/>
              <a:t>23/04/2026</a:t>
            </a:fld>
            <a:endParaRPr lang="en-K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39949680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1" y="3505200"/>
            <a:ext cx="10131428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8BF93-E384-4868-8CB3-4E92947A9A1B}" type="datetimeFigureOut">
              <a:rPr lang="en-KE" smtClean="0"/>
              <a:t>23/04/2026</a:t>
            </a:fld>
            <a:endParaRPr lang="en-K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324179815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8BF93-E384-4868-8CB3-4E92947A9A1B}" type="datetimeFigureOut">
              <a:rPr lang="en-KE" smtClean="0"/>
              <a:t>23/04/2026</a:t>
            </a:fld>
            <a:endParaRPr lang="en-K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533449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8675" y="609599"/>
            <a:ext cx="2158552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09600"/>
            <a:ext cx="7832116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8BF93-E384-4868-8CB3-4E92947A9A1B}" type="datetimeFigureOut">
              <a:rPr lang="en-KE" smtClean="0"/>
              <a:t>23/04/2026</a:t>
            </a:fld>
            <a:endParaRPr lang="en-K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7805685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2142067"/>
            <a:ext cx="10131425" cy="36491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CEB8BF93-E384-4868-8CB3-4E92947A9A1B}" type="datetimeFigureOut">
              <a:rPr lang="en-KE" smtClean="0"/>
              <a:t>23/04/2026</a:t>
            </a:fld>
            <a:endParaRPr lang="en-K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K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403486196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  <p:sldLayoutId id="2147483702" r:id="rId12"/>
    <p:sldLayoutId id="2147483703" r:id="rId13"/>
    <p:sldLayoutId id="2147483704" r:id="rId14"/>
    <p:sldLayoutId id="2147483705" r:id="rId15"/>
    <p:sldLayoutId id="2147483706" r:id="rId16"/>
    <p:sldLayoutId id="214748370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oonene/language-identifier-project" TargetMode="External"/><Relationship Id="rId2" Type="http://schemas.openxmlformats.org/officeDocument/2006/relationships/hyperlink" Target="https://language-identifier-project-mgjenzao9fyhagc8besezs.streamlit.app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67DCC5-D9AF-D5DA-AA50-74B2CDE17E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97137" y="748210"/>
            <a:ext cx="7197726" cy="2421464"/>
          </a:xfrm>
        </p:spPr>
        <p:txBody>
          <a:bodyPr>
            <a:norm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LANGUAGE IDENTIFICATION SYSTEM</a:t>
            </a:r>
            <a:endParaRPr lang="en-KE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318D9D-B699-E673-12BD-98603BA0A8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881911"/>
            <a:ext cx="9144000" cy="1655762"/>
          </a:xfrm>
        </p:spPr>
        <p:txBody>
          <a:bodyPr>
            <a:normAutofit fontScale="92500" lnSpcReduction="10000"/>
          </a:bodyPr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Name: Gitari Collins Munene</a:t>
            </a:r>
          </a:p>
          <a:p>
            <a:pPr algn="l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Adm No: 110062748</a:t>
            </a:r>
          </a:p>
          <a:p>
            <a:pPr algn="l"/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Unit: CSC 423</a:t>
            </a:r>
            <a:endParaRPr lang="en-K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16128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D1858-E730-D75B-63C8-D623DA2B79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u="sng" dirty="0"/>
              <a:t>INTRODUCTION</a:t>
            </a:r>
            <a:endParaRPr lang="en-KE" b="1" u="sn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B6DB2D-08CE-E195-DAC6-5F3733EDAC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Language identification is a task in NLP</a:t>
            </a:r>
          </a:p>
          <a:p>
            <a:r>
              <a:rPr lang="en-US" dirty="0"/>
              <a:t>It determines the language of a text</a:t>
            </a:r>
          </a:p>
          <a:p>
            <a:endParaRPr lang="en-US" dirty="0"/>
          </a:p>
          <a:p>
            <a:r>
              <a:rPr lang="en-US" dirty="0"/>
              <a:t>This project focuses on:</a:t>
            </a:r>
          </a:p>
          <a:p>
            <a:r>
              <a:rPr lang="en-US" dirty="0"/>
              <a:t>- English</a:t>
            </a:r>
          </a:p>
          <a:p>
            <a:r>
              <a:rPr lang="en-US" dirty="0"/>
              <a:t>- Swahili</a:t>
            </a:r>
          </a:p>
          <a:p>
            <a:r>
              <a:rPr lang="en-US" dirty="0"/>
              <a:t>- Kikuyu</a:t>
            </a:r>
          </a:p>
          <a:p>
            <a:r>
              <a:rPr lang="en-US" dirty="0"/>
              <a:t>- Sheng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It also handles mixed language</a:t>
            </a:r>
            <a:endParaRPr lang="en-KE" dirty="0"/>
          </a:p>
        </p:txBody>
      </p:sp>
    </p:spTree>
    <p:extLst>
      <p:ext uri="{BB962C8B-B14F-4D97-AF65-F5344CB8AC3E}">
        <p14:creationId xmlns:p14="http://schemas.microsoft.com/office/powerpoint/2010/main" val="41966899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6FC3D-FA34-827E-B09F-CE1F4BFEAB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1" y="320843"/>
            <a:ext cx="10131425" cy="959318"/>
          </a:xfrm>
        </p:spPr>
        <p:txBody>
          <a:bodyPr/>
          <a:lstStyle/>
          <a:p>
            <a:pPr algn="ctr"/>
            <a:r>
              <a:rPr lang="en-US" b="1" u="sng" dirty="0"/>
              <a:t>Objectives</a:t>
            </a:r>
            <a:endParaRPr lang="en-KE" b="1" u="sn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32B265-004A-FF56-8C72-3772594306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1" y="1097281"/>
            <a:ext cx="10131425" cy="5524900"/>
          </a:xfrm>
        </p:spPr>
        <p:txBody>
          <a:bodyPr>
            <a:normAutofit/>
          </a:bodyPr>
          <a:lstStyle/>
          <a:p>
            <a:r>
              <a:rPr lang="en-US" dirty="0"/>
              <a:t>Build a language classification system that can predict: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English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Swahili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Kikuyu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Sheng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Mixed</a:t>
            </a:r>
          </a:p>
          <a:p>
            <a:r>
              <a:rPr lang="en-US" dirty="0"/>
              <a:t>Correct labeling of languages</a:t>
            </a:r>
          </a:p>
          <a:p>
            <a:r>
              <a:rPr lang="en-US" dirty="0"/>
              <a:t>Apply preprocessing techniques </a:t>
            </a:r>
          </a:p>
          <a:p>
            <a:r>
              <a:rPr lang="en-US" dirty="0"/>
              <a:t>Apply feature extraction to my system</a:t>
            </a:r>
          </a:p>
          <a:p>
            <a:r>
              <a:rPr lang="en-US" dirty="0"/>
              <a:t>Train the system</a:t>
            </a:r>
          </a:p>
          <a:p>
            <a:r>
              <a:rPr lang="en-US" dirty="0"/>
              <a:t>Evaluate system’s accuracy, </a:t>
            </a:r>
            <a:r>
              <a:rPr lang="en-US" dirty="0" err="1"/>
              <a:t>precission</a:t>
            </a:r>
            <a:r>
              <a:rPr lang="en-US" dirty="0"/>
              <a:t> ,f1 score etc.</a:t>
            </a:r>
          </a:p>
          <a:p>
            <a:r>
              <a:rPr lang="en-US" dirty="0"/>
              <a:t>Build and deploy a working application</a:t>
            </a:r>
            <a:endParaRPr lang="en-KE" dirty="0"/>
          </a:p>
        </p:txBody>
      </p:sp>
    </p:spTree>
    <p:extLst>
      <p:ext uri="{BB962C8B-B14F-4D97-AF65-F5344CB8AC3E}">
        <p14:creationId xmlns:p14="http://schemas.microsoft.com/office/powerpoint/2010/main" val="30968631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BF2C1-11F6-B73D-7174-AB0BC66B6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1" y="223101"/>
            <a:ext cx="10131425" cy="898689"/>
          </a:xfrm>
        </p:spPr>
        <p:txBody>
          <a:bodyPr/>
          <a:lstStyle/>
          <a:p>
            <a:pPr algn="ctr"/>
            <a:r>
              <a:rPr lang="en-US" b="1" u="sng" dirty="0"/>
              <a:t>DATA COLLECTION</a:t>
            </a:r>
            <a:endParaRPr lang="en-KE" b="1" u="sn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33E325-F8D2-A7EC-DE73-9A8B2229EF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5483" y="1255948"/>
            <a:ext cx="10541523" cy="4984596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The Dataset was created using real-world language patterns</a:t>
            </a:r>
          </a:p>
          <a:p>
            <a:r>
              <a:rPr lang="en-US" dirty="0"/>
              <a:t>The sources were inspired by : 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Social media posts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Online articles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SMS/text communication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Transcribed speech</a:t>
            </a:r>
          </a:p>
          <a:p>
            <a:endParaRPr lang="en-US" dirty="0"/>
          </a:p>
          <a:p>
            <a:r>
              <a:rPr lang="en-US" dirty="0"/>
              <a:t>1000+ sentences (250 per language)</a:t>
            </a:r>
          </a:p>
          <a:p>
            <a:r>
              <a:rPr lang="en-US" dirty="0"/>
              <a:t>The languages are :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English (250)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Swahili (250)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Kikuyu (250)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Sheng (250)</a:t>
            </a:r>
          </a:p>
          <a:p>
            <a:pPr marL="400050" indent="-400050">
              <a:buFont typeface="+mj-lt"/>
              <a:buAutoNum type="romanUcPeriod"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 dataset was manually created, but it was based on real-world language usage patterns such as social media, SMS communication, and spoken language.</a:t>
            </a:r>
          </a:p>
        </p:txBody>
      </p:sp>
    </p:spTree>
    <p:extLst>
      <p:ext uri="{BB962C8B-B14F-4D97-AF65-F5344CB8AC3E}">
        <p14:creationId xmlns:p14="http://schemas.microsoft.com/office/powerpoint/2010/main" val="33025296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10A77C-C390-0768-6D8B-34CAA547EB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u="sng" dirty="0"/>
              <a:t>DATA LABELLING</a:t>
            </a:r>
            <a:endParaRPr lang="en-KE" b="1" u="sn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B81DB1-9AD6-ED76-A7CC-BCB9514C5E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6119" y="1607419"/>
            <a:ext cx="4564928" cy="4841507"/>
          </a:xfrm>
        </p:spPr>
        <p:txBody>
          <a:bodyPr>
            <a:normAutofit/>
          </a:bodyPr>
          <a:lstStyle/>
          <a:p>
            <a:r>
              <a:rPr lang="en-US" dirty="0"/>
              <a:t>Each sentence in the project is  labeled with its language</a:t>
            </a:r>
          </a:p>
          <a:p>
            <a:r>
              <a:rPr lang="en-US" dirty="0"/>
              <a:t>Examples: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"I am going" → English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"</a:t>
            </a:r>
            <a:r>
              <a:rPr lang="en-US" dirty="0" err="1"/>
              <a:t>Ninaenda</a:t>
            </a:r>
            <a:r>
              <a:rPr lang="en-US" dirty="0"/>
              <a:t> </a:t>
            </a:r>
            <a:r>
              <a:rPr lang="en-US" dirty="0" err="1"/>
              <a:t>shule</a:t>
            </a:r>
            <a:r>
              <a:rPr lang="en-US" dirty="0"/>
              <a:t>" → Swahili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"Niko base" → Sheng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"</a:t>
            </a:r>
            <a:r>
              <a:rPr lang="en-US" dirty="0" err="1"/>
              <a:t>Ningi</a:t>
            </a:r>
            <a:r>
              <a:rPr lang="en-US" dirty="0"/>
              <a:t> </a:t>
            </a:r>
            <a:r>
              <a:rPr lang="en-US" dirty="0" err="1"/>
              <a:t>thii</a:t>
            </a:r>
            <a:r>
              <a:rPr lang="en-US" dirty="0"/>
              <a:t>" → Kikuyu</a:t>
            </a:r>
          </a:p>
          <a:p>
            <a:pPr marL="400050" indent="-400050">
              <a:buFont typeface="+mj-lt"/>
              <a:buAutoNum type="romanUcPeriod"/>
            </a:pPr>
            <a:endParaRPr lang="en-US" dirty="0"/>
          </a:p>
          <a:p>
            <a:pPr marL="0" indent="0">
              <a:buNone/>
            </a:pPr>
            <a:r>
              <a:rPr lang="en-US" dirty="0"/>
              <a:t>I used a simple data augmentation approach by generating variations of existing sentences. This included replacing words, mixing languages, and restructuring sentences to create more diverse training examples.</a:t>
            </a:r>
            <a:endParaRPr lang="en-K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FA02305-4FD9-B701-8F74-313C36E5AD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1184" y="2321176"/>
            <a:ext cx="6745401" cy="3794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3870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6E270-9451-2D6C-6780-7BB10863A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u="sng" dirty="0"/>
              <a:t>DATA PROCESSING</a:t>
            </a:r>
            <a:endParaRPr lang="en-KE" b="1" u="sn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DF52D5-746E-6F3A-4BDF-207BB4A96E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2" y="2065867"/>
            <a:ext cx="3433712" cy="3725333"/>
          </a:xfrm>
        </p:spPr>
        <p:txBody>
          <a:bodyPr>
            <a:normAutofit/>
          </a:bodyPr>
          <a:lstStyle/>
          <a:p>
            <a:r>
              <a:rPr lang="en-US" dirty="0"/>
              <a:t>I have implemented the following data processing functions in the project: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Lowercasing text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Removing punctuation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Removing extra spaces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Tokenization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Sheng slang normalization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C16782C-33D3-54B1-5718-609BF7A6A9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4604" y="1867301"/>
            <a:ext cx="8151725" cy="4585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15338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DC119-D16F-7389-918C-A239E4367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u="sng" dirty="0"/>
              <a:t>FEATURE EXTRACTION</a:t>
            </a:r>
            <a:endParaRPr lang="en-KE" b="1" u="sn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52CCF5-3C7F-6314-36FE-4CFAE1BABC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09946"/>
            <a:ext cx="4053526" cy="4807670"/>
          </a:xfrm>
        </p:spPr>
        <p:txBody>
          <a:bodyPr/>
          <a:lstStyle/>
          <a:p>
            <a:r>
              <a:rPr lang="en-US" dirty="0"/>
              <a:t>For this project I implemented Bag of Words, TF-IDF, and Character n-grams.</a:t>
            </a:r>
            <a:br>
              <a:rPr lang="en-US" dirty="0"/>
            </a:br>
            <a:r>
              <a:rPr lang="en-US" dirty="0"/>
              <a:t>Character n-grams performed best.</a:t>
            </a:r>
          </a:p>
          <a:p>
            <a:r>
              <a:rPr lang="en-US" dirty="0"/>
              <a:t>The reason for using it is because it can: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Capture spelling patterns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Understand language  specific structures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It is also robust to spelling and slang variations</a:t>
            </a:r>
            <a:endParaRPr lang="en-K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0E5BBE-6A21-E3B5-2787-E966BDDA56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53526" y="1972558"/>
            <a:ext cx="7968791" cy="4482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0235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F90605-FD27-66AF-601C-E7F99B983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u="sng" dirty="0"/>
              <a:t>Model evaluation</a:t>
            </a:r>
            <a:endParaRPr lang="en-KE" b="1" u="sn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0A7764-0D02-1BA7-36E8-0E747ECF62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6693" y="2300140"/>
            <a:ext cx="3198042" cy="3481633"/>
          </a:xfrm>
        </p:spPr>
        <p:txBody>
          <a:bodyPr>
            <a:normAutofit/>
          </a:bodyPr>
          <a:lstStyle/>
          <a:p>
            <a:r>
              <a:rPr lang="en-US" dirty="0"/>
              <a:t>In the project I have used the Naïve Bayes and Logistic Regression to compare the projects performance </a:t>
            </a:r>
          </a:p>
          <a:p>
            <a:r>
              <a:rPr lang="en-US" dirty="0"/>
              <a:t>precision recall f1-score, All metrics are 1.0, indicating very high performance</a:t>
            </a:r>
          </a:p>
          <a:p>
            <a:endParaRPr lang="en-K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30829D-7A3C-3479-9701-77AACE268A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9606" y="2065867"/>
            <a:ext cx="7748444" cy="4358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60411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0BDA12-5CD9-9D83-7C6A-FB45442CA9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evaluation(confusion matrix)</a:t>
            </a:r>
            <a:endParaRPr lang="en-KE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D1BFE97-5E0F-D50A-A268-E17F9A54073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540" y="2065867"/>
            <a:ext cx="7459087" cy="419573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721A7CC-7053-A53B-D029-178D8D215379}"/>
              </a:ext>
            </a:extLst>
          </p:cNvPr>
          <p:cNvSpPr txBox="1"/>
          <p:nvPr/>
        </p:nvSpPr>
        <p:spPr>
          <a:xfrm>
            <a:off x="8059917" y="2514302"/>
            <a:ext cx="390269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All predictions are on the diagonal, meaning the model classified every example correctly</a:t>
            </a:r>
          </a:p>
        </p:txBody>
      </p:sp>
    </p:spTree>
    <p:extLst>
      <p:ext uri="{BB962C8B-B14F-4D97-AF65-F5344CB8AC3E}">
        <p14:creationId xmlns:p14="http://schemas.microsoft.com/office/powerpoint/2010/main" val="24080579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456A74-0CE5-2001-7C43-2535C3C636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127" y="336223"/>
            <a:ext cx="4781745" cy="851555"/>
          </a:xfrm>
        </p:spPr>
        <p:txBody>
          <a:bodyPr/>
          <a:lstStyle/>
          <a:p>
            <a:pPr algn="ctr"/>
            <a:r>
              <a:rPr lang="en-US" b="1" u="sng" dirty="0"/>
              <a:t>APP demo</a:t>
            </a:r>
            <a:endParaRPr lang="en-KE" b="1" u="sn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84FAE2-3CED-FDC6-61B5-853DAC1D02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291" y="1187778"/>
            <a:ext cx="2981226" cy="4117941"/>
          </a:xfrm>
        </p:spPr>
        <p:txBody>
          <a:bodyPr/>
          <a:lstStyle/>
          <a:p>
            <a:r>
              <a:rPr lang="en-US" dirty="0"/>
              <a:t>The app is built using </a:t>
            </a:r>
            <a:r>
              <a:rPr lang="en-US" dirty="0" err="1"/>
              <a:t>Streamlit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How does it work:</a:t>
            </a:r>
          </a:p>
          <a:p>
            <a:r>
              <a:rPr lang="en-US" dirty="0"/>
              <a:t>User:</a:t>
            </a:r>
          </a:p>
          <a:p>
            <a:r>
              <a:rPr lang="en-US" dirty="0"/>
              <a:t>- Enters text</a:t>
            </a:r>
          </a:p>
          <a:p>
            <a:r>
              <a:rPr lang="en-US" dirty="0"/>
              <a:t>- Clicks Predict</a:t>
            </a:r>
          </a:p>
          <a:p>
            <a:endParaRPr lang="en-US" dirty="0"/>
          </a:p>
          <a:p>
            <a:r>
              <a:rPr lang="en-US" dirty="0"/>
              <a:t>System outputs:</a:t>
            </a:r>
          </a:p>
          <a:p>
            <a:r>
              <a:rPr lang="en-US" dirty="0"/>
              <a:t>- Language</a:t>
            </a:r>
          </a:p>
          <a:p>
            <a:r>
              <a:rPr lang="en-US" dirty="0"/>
              <a:t>- Confidence score</a:t>
            </a:r>
            <a:endParaRPr lang="en-K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7B5F6B-30B8-53AB-B84C-60D7EFF4C1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4308" y="1187778"/>
            <a:ext cx="4913112" cy="27636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855C4C2-A9E1-054C-A740-150FFCD2FE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6339" y="3989305"/>
            <a:ext cx="4913112" cy="2763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02579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5DA239-9A35-0ADB-F026-C247C6306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u="sng" dirty="0"/>
              <a:t>Handling Mixed Language</a:t>
            </a:r>
            <a:endParaRPr lang="en-KE" b="1" u="sn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0CFA48-3DED-6A16-0452-3305BA9E07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introduced a mixed class in the project that can handle a mixed sentence of both English and Swahili or Sheng and Kikuyu </a:t>
            </a:r>
          </a:p>
          <a:p>
            <a:r>
              <a:rPr lang="en-US" dirty="0"/>
              <a:t>The model is trained using some mixed language examples</a:t>
            </a:r>
            <a:br>
              <a:rPr lang="en-US" dirty="0"/>
            </a:br>
            <a:endParaRPr lang="en-US" dirty="0"/>
          </a:p>
          <a:p>
            <a:r>
              <a:rPr lang="en-US" dirty="0"/>
              <a:t>Example:</a:t>
            </a:r>
            <a:br>
              <a:rPr lang="en-US" dirty="0"/>
            </a:br>
            <a:r>
              <a:rPr lang="en-US" dirty="0"/>
              <a:t>I am going </a:t>
            </a:r>
            <a:r>
              <a:rPr lang="en-US" dirty="0" err="1"/>
              <a:t>tao</a:t>
            </a:r>
            <a:r>
              <a:rPr lang="en-US" dirty="0"/>
              <a:t> </a:t>
            </a:r>
            <a:r>
              <a:rPr lang="en-US" dirty="0" err="1"/>
              <a:t>sasa</a:t>
            </a:r>
            <a:br>
              <a:rPr lang="en-US" dirty="0"/>
            </a:br>
            <a:br>
              <a:rPr lang="en-US" dirty="0"/>
            </a:br>
            <a:r>
              <a:rPr lang="en-US" dirty="0"/>
              <a:t>System detects mixed language usage</a:t>
            </a:r>
            <a:br>
              <a:rPr lang="en-US" dirty="0"/>
            </a:br>
            <a:endParaRPr lang="en-US" dirty="0"/>
          </a:p>
          <a:p>
            <a:r>
              <a:rPr lang="en-US" dirty="0"/>
              <a:t>Adding mixed language handling Improves real-world performance</a:t>
            </a:r>
            <a:endParaRPr lang="en-KE" dirty="0"/>
          </a:p>
        </p:txBody>
      </p:sp>
    </p:spTree>
    <p:extLst>
      <p:ext uri="{BB962C8B-B14F-4D97-AF65-F5344CB8AC3E}">
        <p14:creationId xmlns:p14="http://schemas.microsoft.com/office/powerpoint/2010/main" val="40500688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928EBB8-F034-A2B0-E048-6ED501813B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3967" y="469106"/>
            <a:ext cx="10524066" cy="5919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48369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4DDDE7-E459-4BCF-E2FD-6A19FE616E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u="sng" dirty="0"/>
              <a:t>Online deployment</a:t>
            </a:r>
            <a:endParaRPr lang="en-KE" b="1" u="sn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9BAB3A-6BF8-CF0A-78DF-468ABA8CEA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0935" y="2077799"/>
            <a:ext cx="4568072" cy="3802144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The system was deployed using </a:t>
            </a:r>
            <a:r>
              <a:rPr lang="en-US" dirty="0" err="1"/>
              <a:t>Streamlit</a:t>
            </a:r>
            <a:r>
              <a:rPr lang="en-US" dirty="0"/>
              <a:t> </a:t>
            </a:r>
          </a:p>
          <a:p>
            <a:r>
              <a:rPr lang="en-US" dirty="0"/>
              <a:t>Link to page:  </a:t>
            </a:r>
            <a:r>
              <a:rPr lang="en-US" dirty="0">
                <a:hlinkClick r:id="rId2"/>
              </a:rPr>
              <a:t>https://language-identifier-project-mgjenzao9fyhagc8besezs.streamlit.app/</a:t>
            </a:r>
            <a:endParaRPr lang="en-US" dirty="0"/>
          </a:p>
          <a:p>
            <a:endParaRPr lang="en-US" dirty="0"/>
          </a:p>
          <a:p>
            <a:r>
              <a:rPr lang="en-US" dirty="0"/>
              <a:t>Cloud and the application is hosted on </a:t>
            </a:r>
            <a:r>
              <a:rPr lang="en-US" dirty="0" err="1"/>
              <a:t>Github</a:t>
            </a:r>
            <a:endParaRPr lang="en-US" dirty="0"/>
          </a:p>
          <a:p>
            <a:r>
              <a:rPr lang="en-US" dirty="0"/>
              <a:t>Link to </a:t>
            </a:r>
            <a:r>
              <a:rPr lang="en-US" dirty="0" err="1"/>
              <a:t>Github</a:t>
            </a:r>
            <a:r>
              <a:rPr lang="en-US" dirty="0"/>
              <a:t>:  </a:t>
            </a:r>
            <a:r>
              <a:rPr lang="en-US" dirty="0">
                <a:hlinkClick r:id="rId3"/>
              </a:rPr>
              <a:t>https://github.com/Moonene/language-identifier-project</a:t>
            </a:r>
            <a:r>
              <a:rPr lang="en-US" dirty="0"/>
              <a:t> </a:t>
            </a:r>
            <a:br>
              <a:rPr lang="en-US" dirty="0"/>
            </a:br>
            <a:endParaRPr lang="en-US" dirty="0"/>
          </a:p>
          <a:p>
            <a:r>
              <a:rPr lang="en-US" dirty="0"/>
              <a:t>With the link above it is accessible through a web browser and no installation is required for users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0299CD-2E02-5E67-683E-C34F9EC096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7467" y="1888381"/>
            <a:ext cx="7284533" cy="4097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74464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76D05-A19B-ECF7-4357-F1CB29CEE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8933" y="248158"/>
            <a:ext cx="10334133" cy="920765"/>
          </a:xfrm>
        </p:spPr>
        <p:txBody>
          <a:bodyPr/>
          <a:lstStyle/>
          <a:p>
            <a:pPr algn="ctr"/>
            <a:r>
              <a:rPr lang="en-US" b="1" u="sng" dirty="0"/>
              <a:t>LIVE app on </a:t>
            </a:r>
            <a:r>
              <a:rPr lang="en-US" b="1" u="sng" dirty="0" err="1"/>
              <a:t>streamlit</a:t>
            </a:r>
            <a:endParaRPr lang="en-KE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63358FE-6D2C-34C8-501B-D0DB1BCD04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76947" y="1168923"/>
            <a:ext cx="9638104" cy="5421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9660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A06065-7A76-8233-39BD-1680E402E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limitations</a:t>
            </a:r>
            <a:endParaRPr lang="en-K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02A933-B0E2-8432-8F84-3657B7076A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Performance may drop on very short text</a:t>
            </a:r>
          </a:p>
          <a:p>
            <a:endParaRPr lang="en-US" dirty="0"/>
          </a:p>
          <a:p>
            <a:r>
              <a:rPr lang="en-US" dirty="0"/>
              <a:t>Unseen slang or new Sheng words may affect accuracy</a:t>
            </a:r>
          </a:p>
          <a:p>
            <a:endParaRPr lang="en-US" dirty="0"/>
          </a:p>
          <a:p>
            <a:r>
              <a:rPr lang="en-US" dirty="0"/>
              <a:t>Dataset was manually created and may not cover all real-world variations</a:t>
            </a:r>
          </a:p>
          <a:p>
            <a:endParaRPr lang="en-US" dirty="0"/>
          </a:p>
          <a:p>
            <a:r>
              <a:rPr lang="en-US" dirty="0"/>
              <a:t>Model may struggle with complex mixed-language sentences</a:t>
            </a:r>
          </a:p>
          <a:p>
            <a:endParaRPr lang="en-US" dirty="0"/>
          </a:p>
          <a:p>
            <a:r>
              <a:rPr lang="en-US" dirty="0"/>
              <a:t>Limited to four main languages</a:t>
            </a:r>
            <a:endParaRPr lang="en-KE" dirty="0"/>
          </a:p>
        </p:txBody>
      </p:sp>
    </p:spTree>
    <p:extLst>
      <p:ext uri="{BB962C8B-B14F-4D97-AF65-F5344CB8AC3E}">
        <p14:creationId xmlns:p14="http://schemas.microsoft.com/office/powerpoint/2010/main" val="343391148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elestial">
  <a:themeElements>
    <a:clrScheme name="Celestial">
      <a:dk1>
        <a:sysClr val="windowText" lastClr="000000"/>
      </a:dk1>
      <a:lt1>
        <a:sysClr val="window" lastClr="FFFFFF"/>
      </a:lt1>
      <a:dk2>
        <a:srgbClr val="18276C"/>
      </a:dk2>
      <a:lt2>
        <a:srgbClr val="EBEBEB"/>
      </a:lt2>
      <a:accent1>
        <a:srgbClr val="AC3EC1"/>
      </a:accent1>
      <a:accent2>
        <a:srgbClr val="477BD1"/>
      </a:accent2>
      <a:accent3>
        <a:srgbClr val="46B298"/>
      </a:accent3>
      <a:accent4>
        <a:srgbClr val="90BA4C"/>
      </a:accent4>
      <a:accent5>
        <a:srgbClr val="DD9D31"/>
      </a:accent5>
      <a:accent6>
        <a:srgbClr val="E25247"/>
      </a:accent6>
      <a:hlink>
        <a:srgbClr val="C573D2"/>
      </a:hlink>
      <a:folHlink>
        <a:srgbClr val="CCAEE8"/>
      </a:folHlink>
    </a:clrScheme>
    <a:fontScheme name="Celestial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elestial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lumMod val="110000"/>
              </a:schemeClr>
            </a:gs>
            <a:gs pos="100000">
              <a:schemeClr val="phClr">
                <a:tint val="82000"/>
                <a:alpha val="7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0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1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5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6000"/>
                <a:hueMod val="100000"/>
                <a:satMod val="180000"/>
                <a:lumMod val="110000"/>
              </a:schemeClr>
            </a:gs>
            <a:gs pos="100000">
              <a:schemeClr val="phClr">
                <a:shade val="96000"/>
                <a:satMod val="160000"/>
                <a:lumMod val="100000"/>
              </a:schemeClr>
            </a:gs>
          </a:gsLst>
          <a:lin ang="4740000" scaled="1"/>
        </a:gradFill>
        <a:blipFill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elestial" id="{C4BB2A3D-0E93-4C5F-B0D2-9D3FCE089CC5}" vid="{42E5908D-19A2-46FD-89FA-638B126129E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Celestial</Template>
  <TotalTime>302</TotalTime>
  <Words>569</Words>
  <Application>Microsoft Office PowerPoint</Application>
  <PresentationFormat>Widescreen</PresentationFormat>
  <Paragraphs>105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Calibri Light</vt:lpstr>
      <vt:lpstr>Times New Roman</vt:lpstr>
      <vt:lpstr>Celestial</vt:lpstr>
      <vt:lpstr>LANGUAGE IDENTIFICATION SYSTEM</vt:lpstr>
      <vt:lpstr>INTRODUCTION</vt:lpstr>
      <vt:lpstr>Objectives</vt:lpstr>
      <vt:lpstr>DATA COLLECTION</vt:lpstr>
      <vt:lpstr>DATA LABELLING</vt:lpstr>
      <vt:lpstr>DATA PROCESSING</vt:lpstr>
      <vt:lpstr>FEATURE EXTRACTION</vt:lpstr>
      <vt:lpstr>Model evaluation</vt:lpstr>
      <vt:lpstr>Model evaluation(confusion matrix)</vt:lpstr>
      <vt:lpstr>APP demo</vt:lpstr>
      <vt:lpstr>Handling Mixed Language</vt:lpstr>
      <vt:lpstr>PowerPoint Presentation</vt:lpstr>
      <vt:lpstr>Online deployment</vt:lpstr>
      <vt:lpstr>LIVE app on streamlit</vt:lpstr>
      <vt:lpstr>limitations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Collins Munene Gitari</dc:creator>
  <cp:lastModifiedBy>Collins Munene Gitari</cp:lastModifiedBy>
  <cp:revision>8</cp:revision>
  <dcterms:created xsi:type="dcterms:W3CDTF">2026-04-20T07:09:45Z</dcterms:created>
  <dcterms:modified xsi:type="dcterms:W3CDTF">2026-04-23T20:21:30Z</dcterms:modified>
</cp:coreProperties>
</file>