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5" r:id="rId11"/>
    <p:sldId id="266" r:id="rId12"/>
    <p:sldId id="269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32" autoAdjust="0"/>
    <p:restoredTop sz="94660"/>
  </p:normalViewPr>
  <p:slideViewPr>
    <p:cSldViewPr snapToGrid="0">
      <p:cViewPr>
        <p:scale>
          <a:sx n="75" d="100"/>
          <a:sy n="75" d="100"/>
        </p:scale>
        <p:origin x="380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3688532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177561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714991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22444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405038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190150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1572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599728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81545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45748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139056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74645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9698720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994968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41798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3344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80568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EB8BF93-E384-4868-8CB3-4E92947A9A1B}" type="datetimeFigureOut">
              <a:rPr lang="en-KE" smtClean="0"/>
              <a:t>24/04/2026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C4E758B-F2B0-4831-B728-C949E6E5C903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0348619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onene/language-identifier-project" TargetMode="External"/><Relationship Id="rId2" Type="http://schemas.openxmlformats.org/officeDocument/2006/relationships/hyperlink" Target="https://language-identifier-project-mgjenzao9fyhagc8besezs.streamlit.app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7DCC5-D9AF-D5DA-AA50-74B2CDE17E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7137" y="748210"/>
            <a:ext cx="7197726" cy="242146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IDENTIFICATION SYSTEM</a:t>
            </a:r>
            <a:endParaRPr lang="en-KE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318D9D-B699-E673-12BD-98603BA0A8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81911"/>
            <a:ext cx="9144000" cy="16557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Gitari Collins Munene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 No: 110062748</a:t>
            </a:r>
          </a:p>
          <a:p>
            <a:pPr algn="l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Unit: CSC 423</a:t>
            </a:r>
            <a:endParaRPr lang="en-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612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D1858-E730-D75B-63C8-D623DA2B7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KE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6DB2D-08CE-E195-DAC6-5F3733EDA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identification is a task in NLP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determines the language of a text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English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Swahili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Kikuyu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Sheng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handles mixed language</a:t>
            </a:r>
            <a:endParaRPr lang="en-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689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6FC3D-FA34-827E-B09F-CE1F4BFEA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20843"/>
            <a:ext cx="10131425" cy="959318"/>
          </a:xfrm>
        </p:spPr>
        <p:txBody>
          <a:bodyPr/>
          <a:lstStyle/>
          <a:p>
            <a:pPr algn="ctr"/>
            <a:r>
              <a:rPr lang="en-US" b="1" u="sng" dirty="0"/>
              <a:t>Objectives</a:t>
            </a:r>
            <a:endParaRPr lang="en-KE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2B265-004A-FF56-8C72-377259430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97281"/>
            <a:ext cx="10131425" cy="5524900"/>
          </a:xfrm>
        </p:spPr>
        <p:txBody>
          <a:bodyPr>
            <a:normAutofit/>
          </a:bodyPr>
          <a:lstStyle/>
          <a:p>
            <a:r>
              <a:rPr lang="en-US" dirty="0"/>
              <a:t>Build a language classification system that can predict: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English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Swahili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Kikuyu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Sheng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Mixed</a:t>
            </a:r>
          </a:p>
          <a:p>
            <a:r>
              <a:rPr lang="en-US" dirty="0"/>
              <a:t>Correct labeling of languages</a:t>
            </a:r>
          </a:p>
          <a:p>
            <a:r>
              <a:rPr lang="en-US" dirty="0"/>
              <a:t>Apply preprocessing techniques </a:t>
            </a:r>
          </a:p>
          <a:p>
            <a:r>
              <a:rPr lang="en-US" dirty="0"/>
              <a:t>Apply feature extraction to my system</a:t>
            </a:r>
          </a:p>
          <a:p>
            <a:r>
              <a:rPr lang="en-US" dirty="0"/>
              <a:t>Train the system</a:t>
            </a:r>
          </a:p>
          <a:p>
            <a:r>
              <a:rPr lang="en-US" dirty="0"/>
              <a:t>Evaluate system’s accuracy, </a:t>
            </a:r>
            <a:r>
              <a:rPr lang="en-US" dirty="0" err="1"/>
              <a:t>precission</a:t>
            </a:r>
            <a:r>
              <a:rPr lang="en-US" dirty="0"/>
              <a:t> ,f1 score etc.</a:t>
            </a:r>
          </a:p>
          <a:p>
            <a:r>
              <a:rPr lang="en-US" dirty="0"/>
              <a:t>Build and deploy a working application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096863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BF2C1-11F6-B73D-7174-AB0BC66B6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223101"/>
            <a:ext cx="10131425" cy="898689"/>
          </a:xfrm>
        </p:spPr>
        <p:txBody>
          <a:bodyPr/>
          <a:lstStyle/>
          <a:p>
            <a:pPr algn="ctr"/>
            <a:r>
              <a:rPr lang="en-US" b="1" u="sng" dirty="0"/>
              <a:t>DATA COLLECTION</a:t>
            </a:r>
            <a:endParaRPr lang="en-KE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3E325-F8D2-A7EC-DE73-9A8B2229E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483" y="1255947"/>
            <a:ext cx="10541523" cy="537895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Dataset was created using real-world language patterns</a:t>
            </a:r>
          </a:p>
          <a:p>
            <a:r>
              <a:rPr lang="en-US" dirty="0"/>
              <a:t>The sources were inspired by :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Social media posts and comments like Facebook and twitter and Instagram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Online articles like BBC news Swahili 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SMS/text communication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Hymn books for </a:t>
            </a:r>
            <a:r>
              <a:rPr lang="en-US" dirty="0" err="1"/>
              <a:t>KIkuyu</a:t>
            </a:r>
            <a:endParaRPr lang="en-US" dirty="0"/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Transcribed speech for English statements</a:t>
            </a:r>
          </a:p>
          <a:p>
            <a:endParaRPr lang="en-US" dirty="0"/>
          </a:p>
          <a:p>
            <a:r>
              <a:rPr lang="en-US" dirty="0"/>
              <a:t>1000+ sentences (250 per language)</a:t>
            </a:r>
          </a:p>
          <a:p>
            <a:r>
              <a:rPr lang="en-US" dirty="0"/>
              <a:t>The languages are :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English (250)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Swahili (250)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Kikuyu (250)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Sheng (250)</a:t>
            </a:r>
          </a:p>
          <a:p>
            <a:pPr marL="400050" indent="-400050">
              <a:buFont typeface="+mj-lt"/>
              <a:buAutoNum type="romanU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I used a simple data augmentation approach by generating variations of existing sentences. This included replacing words, mixing languages, and restructuring sentences to create more diverse training examples.</a:t>
            </a:r>
            <a:endParaRPr lang="en-KE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529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0A77C-C390-0768-6D8B-34CAA547E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DATA LABELLING</a:t>
            </a:r>
            <a:endParaRPr lang="en-KE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81DB1-9AD6-ED76-A7CC-BCB9514C5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15" y="1607419"/>
            <a:ext cx="5033912" cy="4841507"/>
          </a:xfrm>
        </p:spPr>
        <p:txBody>
          <a:bodyPr>
            <a:normAutofit/>
          </a:bodyPr>
          <a:lstStyle/>
          <a:p>
            <a:r>
              <a:rPr lang="en-US" dirty="0"/>
              <a:t>Each sentence in the project is  labeled with its language</a:t>
            </a:r>
          </a:p>
          <a:p>
            <a:r>
              <a:rPr lang="en-US" dirty="0"/>
              <a:t>Examples: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"I am going" → English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"</a:t>
            </a:r>
            <a:r>
              <a:rPr lang="en-US" dirty="0" err="1"/>
              <a:t>Ninaenda</a:t>
            </a:r>
            <a:r>
              <a:rPr lang="en-US" dirty="0"/>
              <a:t> </a:t>
            </a:r>
            <a:r>
              <a:rPr lang="en-US" dirty="0" err="1"/>
              <a:t>shule</a:t>
            </a:r>
            <a:r>
              <a:rPr lang="en-US" dirty="0"/>
              <a:t>" → Swahili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"Niko base" → Sheng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"</a:t>
            </a:r>
            <a:r>
              <a:rPr lang="en-US" dirty="0" err="1"/>
              <a:t>Ningi</a:t>
            </a:r>
            <a:r>
              <a:rPr lang="en-US" dirty="0"/>
              <a:t> </a:t>
            </a:r>
            <a:r>
              <a:rPr lang="en-US" dirty="0" err="1"/>
              <a:t>thii</a:t>
            </a:r>
            <a:r>
              <a:rPr lang="en-US" dirty="0"/>
              <a:t>" → Kikuyu</a:t>
            </a:r>
          </a:p>
          <a:p>
            <a:pPr marL="400050" indent="-400050">
              <a:buFont typeface="+mj-lt"/>
              <a:buAutoNum type="romanU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.</a:t>
            </a:r>
            <a:endParaRPr lang="en-K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02305-4FD9-B701-8F74-313C36E5AD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184" y="2321176"/>
            <a:ext cx="6745401" cy="379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87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6E270-9451-2D6C-6780-7BB10863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DATA PROCESSING</a:t>
            </a:r>
            <a:endParaRPr lang="en-KE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F52D5-746E-6F3A-4BDF-207BB4A96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065867"/>
            <a:ext cx="3433712" cy="3725333"/>
          </a:xfrm>
        </p:spPr>
        <p:txBody>
          <a:bodyPr>
            <a:normAutofit/>
          </a:bodyPr>
          <a:lstStyle/>
          <a:p>
            <a:r>
              <a:rPr lang="en-US" dirty="0"/>
              <a:t>I have implemented the following data processing functions in the project: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Lowercasing text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Removing punctuation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Removing extra spaces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Tokenization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Sheng slang normalization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16782C-33D3-54B1-5718-609BF7A6A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604" y="1867301"/>
            <a:ext cx="8151725" cy="4585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533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DC119-D16F-7389-918C-A239E4367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FEATURE EXTRACTION</a:t>
            </a:r>
            <a:endParaRPr lang="en-KE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2CCF5-3C7F-6314-36FE-4CFAE1BAB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09946"/>
            <a:ext cx="4053526" cy="4807670"/>
          </a:xfrm>
        </p:spPr>
        <p:txBody>
          <a:bodyPr/>
          <a:lstStyle/>
          <a:p>
            <a:r>
              <a:rPr lang="en-US" dirty="0"/>
              <a:t>For this project I implemented Bag of Words, TF-IDF, and Character n-grams.</a:t>
            </a:r>
            <a:br>
              <a:rPr lang="en-US" dirty="0"/>
            </a:br>
            <a:r>
              <a:rPr lang="en-US" dirty="0"/>
              <a:t>Character n-grams performed best.</a:t>
            </a:r>
          </a:p>
          <a:p>
            <a:r>
              <a:rPr lang="en-US" dirty="0"/>
              <a:t>The reason for using it is because it can: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Capture spelling patterns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Understand language  specific structures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It is also robust to spelling and slang variations</a:t>
            </a:r>
            <a:endParaRPr lang="en-K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0E5BBE-6A21-E3B5-2787-E966BDDA5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3526" y="1972558"/>
            <a:ext cx="7968791" cy="448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3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90605-FD27-66AF-601C-E7F99B983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Model evaluation</a:t>
            </a:r>
            <a:endParaRPr lang="en-KE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A7764-0D02-1BA7-36E8-0E747ECF6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026" y="1710267"/>
            <a:ext cx="11312774" cy="4792133"/>
          </a:xfrm>
        </p:spPr>
        <p:txBody>
          <a:bodyPr>
            <a:normAutofit/>
          </a:bodyPr>
          <a:lstStyle/>
          <a:p>
            <a:r>
              <a:rPr lang="en-US" dirty="0"/>
              <a:t>In the project I have used the Naïve Bayes and Logistic Regression to compare the projects performance </a:t>
            </a:r>
          </a:p>
          <a:p>
            <a:r>
              <a:rPr lang="en-US" dirty="0"/>
              <a:t>All metrics are close to 1.0 for logistic regression indicating very high performance in logistic regression.</a:t>
            </a:r>
          </a:p>
          <a:p>
            <a:r>
              <a:rPr lang="en-US" dirty="0"/>
              <a:t>But in real life scenarios because of difference in language usage, the accuracy might reduce based on the sentences used like too much mixed sentences, complex sheng words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Although both models performed similarly, I selected Logistic Regression because it provides more stable predictions and better handles feature relationships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416041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BDA12-5CD9-9D83-7C6A-FB45442CA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evaluation(confusion matrix)</a:t>
            </a:r>
            <a:endParaRPr lang="en-K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1BFE97-5E0F-D50A-A268-E17F9A540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40" y="2065867"/>
            <a:ext cx="7459087" cy="41957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21A7CC-7053-A53B-D029-178D8D215379}"/>
              </a:ext>
            </a:extLst>
          </p:cNvPr>
          <p:cNvSpPr txBox="1"/>
          <p:nvPr/>
        </p:nvSpPr>
        <p:spPr>
          <a:xfrm>
            <a:off x="8059917" y="2514302"/>
            <a:ext cx="39026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 predictions are on the diagonal, meaning the model classified every example correctly</a:t>
            </a:r>
          </a:p>
        </p:txBody>
      </p:sp>
    </p:spTree>
    <p:extLst>
      <p:ext uri="{BB962C8B-B14F-4D97-AF65-F5344CB8AC3E}">
        <p14:creationId xmlns:p14="http://schemas.microsoft.com/office/powerpoint/2010/main" val="2408057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56A74-0CE5-2001-7C43-2535C3C63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4308" y="336223"/>
            <a:ext cx="4781745" cy="851555"/>
          </a:xfrm>
        </p:spPr>
        <p:txBody>
          <a:bodyPr/>
          <a:lstStyle/>
          <a:p>
            <a:pPr algn="ctr"/>
            <a:r>
              <a:rPr lang="en-US" b="1" u="sng" dirty="0"/>
              <a:t>APP demo</a:t>
            </a:r>
            <a:endParaRPr lang="en-KE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4FAE2-3CED-FDC6-61B5-853DAC1D0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548" y="1268967"/>
            <a:ext cx="2981226" cy="4117941"/>
          </a:xfrm>
        </p:spPr>
        <p:txBody>
          <a:bodyPr/>
          <a:lstStyle/>
          <a:p>
            <a:r>
              <a:rPr lang="en-US" dirty="0"/>
              <a:t>The app is deployed using </a:t>
            </a:r>
            <a:r>
              <a:rPr lang="en-US" dirty="0" err="1"/>
              <a:t>Streamlit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How does it work:</a:t>
            </a:r>
          </a:p>
          <a:p>
            <a:r>
              <a:rPr lang="en-US" dirty="0"/>
              <a:t>User:</a:t>
            </a:r>
          </a:p>
          <a:p>
            <a:r>
              <a:rPr lang="en-US" dirty="0"/>
              <a:t>- Enters text</a:t>
            </a:r>
          </a:p>
          <a:p>
            <a:r>
              <a:rPr lang="en-US" dirty="0"/>
              <a:t>- Clicks Predict</a:t>
            </a:r>
          </a:p>
          <a:p>
            <a:endParaRPr lang="en-US" dirty="0"/>
          </a:p>
          <a:p>
            <a:r>
              <a:rPr lang="en-US" dirty="0"/>
              <a:t>System outputs:</a:t>
            </a:r>
          </a:p>
          <a:p>
            <a:r>
              <a:rPr lang="en-US" dirty="0"/>
              <a:t>- Language</a:t>
            </a:r>
          </a:p>
          <a:p>
            <a:r>
              <a:rPr lang="en-US" dirty="0"/>
              <a:t>- Confidence score</a:t>
            </a:r>
            <a:endParaRPr lang="en-K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7B5F6B-30B8-53AB-B84C-60D7EFF4C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224" y="1039528"/>
            <a:ext cx="6337434" cy="3564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55C4C2-A9E1-054C-A740-150FFCD2F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4067" y="3026152"/>
            <a:ext cx="6625384" cy="3726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257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A239-9A35-0ADB-F026-C247C6306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Handling Mixed Language</a:t>
            </a:r>
            <a:endParaRPr lang="en-KE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CFA48-3DED-6A16-0452-3305BA9E0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introduced a mixed class in the project that can handle a mixed sentence of both English and Swahili or Sheng and Kikuyu </a:t>
            </a:r>
          </a:p>
          <a:p>
            <a:r>
              <a:rPr lang="en-US" dirty="0"/>
              <a:t>The model is trained using some mixed language examples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 am going </a:t>
            </a:r>
            <a:r>
              <a:rPr lang="en-US" dirty="0" err="1"/>
              <a:t>tao</a:t>
            </a:r>
            <a:r>
              <a:rPr lang="en-US" dirty="0"/>
              <a:t> </a:t>
            </a:r>
            <a:r>
              <a:rPr lang="en-US" dirty="0" err="1"/>
              <a:t>sasa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System detects mixed language usage</a:t>
            </a:r>
            <a:br>
              <a:rPr lang="en-US" dirty="0"/>
            </a:br>
            <a:endParaRPr lang="en-US" dirty="0"/>
          </a:p>
          <a:p>
            <a:r>
              <a:rPr lang="en-US" dirty="0"/>
              <a:t>Adding mixed language handling Improves real-world performance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050068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928EBB8-F034-A2B0-E048-6ED501813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967" y="469106"/>
            <a:ext cx="10524066" cy="591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836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DDE7-E459-4BCF-E2FD-6A19FE616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Online deployment</a:t>
            </a:r>
            <a:endParaRPr lang="en-KE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BAB3A-6BF8-CF0A-78DF-468ABA8CE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35" y="2077799"/>
            <a:ext cx="4568072" cy="380214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system was deployed using </a:t>
            </a:r>
            <a:r>
              <a:rPr lang="en-US" dirty="0" err="1"/>
              <a:t>Streamlit</a:t>
            </a:r>
            <a:r>
              <a:rPr lang="en-US" dirty="0"/>
              <a:t> </a:t>
            </a:r>
          </a:p>
          <a:p>
            <a:r>
              <a:rPr lang="en-US" dirty="0"/>
              <a:t>Link to page:  </a:t>
            </a:r>
            <a:r>
              <a:rPr lang="en-US" dirty="0">
                <a:hlinkClick r:id="rId2"/>
              </a:rPr>
              <a:t>https://language-identifier-project-mgjenzao9fyhagc8besezs.streamlit.app/</a:t>
            </a:r>
            <a:endParaRPr lang="en-US" dirty="0"/>
          </a:p>
          <a:p>
            <a:endParaRPr lang="en-US" dirty="0"/>
          </a:p>
          <a:p>
            <a:r>
              <a:rPr lang="en-US" dirty="0"/>
              <a:t>Cloud and the application is hosted on </a:t>
            </a:r>
            <a:r>
              <a:rPr lang="en-US" dirty="0" err="1"/>
              <a:t>Github</a:t>
            </a:r>
            <a:endParaRPr lang="en-US" dirty="0"/>
          </a:p>
          <a:p>
            <a:r>
              <a:rPr lang="en-US" dirty="0"/>
              <a:t>Link to </a:t>
            </a:r>
            <a:r>
              <a:rPr lang="en-US" dirty="0" err="1"/>
              <a:t>Github</a:t>
            </a:r>
            <a:r>
              <a:rPr lang="en-US" dirty="0"/>
              <a:t>:  </a:t>
            </a:r>
            <a:r>
              <a:rPr lang="en-US" dirty="0">
                <a:hlinkClick r:id="rId3"/>
              </a:rPr>
              <a:t>https://github.com/Moonene/language-identifier-project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r>
              <a:rPr lang="en-US" dirty="0"/>
              <a:t>With the link above it is accessible through a web browser and no installation is required for users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0299CD-2E02-5E67-683E-C34F9EC09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467" y="1888381"/>
            <a:ext cx="7284533" cy="409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446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76D05-A19B-ECF7-4357-F1CB29CE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933" y="248158"/>
            <a:ext cx="10334133" cy="920765"/>
          </a:xfrm>
        </p:spPr>
        <p:txBody>
          <a:bodyPr/>
          <a:lstStyle/>
          <a:p>
            <a:pPr algn="ctr"/>
            <a:r>
              <a:rPr lang="en-US" b="1" u="sng" dirty="0"/>
              <a:t>LIVE app on </a:t>
            </a:r>
            <a:r>
              <a:rPr lang="en-US" b="1" u="sng" dirty="0" err="1"/>
              <a:t>streamlit</a:t>
            </a:r>
            <a:endParaRPr lang="en-K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3358FE-6D2C-34C8-501B-D0DB1BCD04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6947" y="1168923"/>
            <a:ext cx="9638104" cy="542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966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06065-7A76-8233-39BD-1680E402E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limitations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2A933-B0E2-8432-8F84-3657B7076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Performance may drop on very short text</a:t>
            </a:r>
          </a:p>
          <a:p>
            <a:endParaRPr lang="en-US" dirty="0"/>
          </a:p>
          <a:p>
            <a:r>
              <a:rPr lang="en-US" dirty="0"/>
              <a:t>Unseen slang or new Sheng words may affect accuracy</a:t>
            </a:r>
          </a:p>
          <a:p>
            <a:endParaRPr lang="en-US" dirty="0"/>
          </a:p>
          <a:p>
            <a:r>
              <a:rPr lang="en-US" dirty="0"/>
              <a:t>Dataset was manually created and may not cover all real-world variations</a:t>
            </a:r>
          </a:p>
          <a:p>
            <a:endParaRPr lang="en-US" dirty="0"/>
          </a:p>
          <a:p>
            <a:r>
              <a:rPr lang="en-US" dirty="0"/>
              <a:t>Model may struggle with complex mixed-language sentences</a:t>
            </a:r>
          </a:p>
          <a:p>
            <a:endParaRPr lang="en-US" dirty="0"/>
          </a:p>
          <a:p>
            <a:r>
              <a:rPr lang="en-US" dirty="0"/>
              <a:t>Limited to four main languages</a:t>
            </a:r>
          </a:p>
          <a:p>
            <a:endParaRPr lang="en-US" dirty="0"/>
          </a:p>
          <a:p>
            <a:r>
              <a:rPr lang="en-US" dirty="0"/>
              <a:t>Re-used sentences making the system accuracy to be high yet it is lower than that</a:t>
            </a:r>
          </a:p>
        </p:txBody>
      </p:sp>
    </p:spTree>
    <p:extLst>
      <p:ext uri="{BB962C8B-B14F-4D97-AF65-F5344CB8AC3E}">
        <p14:creationId xmlns:p14="http://schemas.microsoft.com/office/powerpoint/2010/main" val="34339114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479</TotalTime>
  <Words>633</Words>
  <Application>Microsoft Office PowerPoint</Application>
  <PresentationFormat>Widescreen</PresentationFormat>
  <Paragraphs>110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Celestial</vt:lpstr>
      <vt:lpstr>LANGUAGE IDENTIFICATION SYSTEM</vt:lpstr>
      <vt:lpstr>INTRODUCTION</vt:lpstr>
      <vt:lpstr>Objectives</vt:lpstr>
      <vt:lpstr>DATA COLLECTION</vt:lpstr>
      <vt:lpstr>DATA LABELLING</vt:lpstr>
      <vt:lpstr>DATA PROCESSING</vt:lpstr>
      <vt:lpstr>FEATURE EXTRACTION</vt:lpstr>
      <vt:lpstr>Model evaluation</vt:lpstr>
      <vt:lpstr>Model evaluation(confusion matrix)</vt:lpstr>
      <vt:lpstr>APP demo</vt:lpstr>
      <vt:lpstr>Handling Mixed Language</vt:lpstr>
      <vt:lpstr>PowerPoint Presentation</vt:lpstr>
      <vt:lpstr>Online deployment</vt:lpstr>
      <vt:lpstr>LIVE app on streamlit</vt:lpstr>
      <vt:lpstr>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Collins Munene Gitari</dc:creator>
  <cp:lastModifiedBy>Collins Munene Gitari</cp:lastModifiedBy>
  <cp:revision>17</cp:revision>
  <dcterms:created xsi:type="dcterms:W3CDTF">2026-04-20T07:09:45Z</dcterms:created>
  <dcterms:modified xsi:type="dcterms:W3CDTF">2026-04-24T08:09:33Z</dcterms:modified>
</cp:coreProperties>
</file>